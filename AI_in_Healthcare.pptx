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System</c:v>
                </c:pt>
              </c:strCache>
            </c:strRef>
          </c:tx>
          <c:spPr>
            <a:solidFill>
              <a:srgbClr val="00A8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Radiology</c:v>
                  </c:pt>
                  <c:pt idx="1">
                    <c:v>Pathology</c:v>
                  </c:pt>
                  <c:pt idx="2">
                    <c:v>Dermatology</c:v>
                  </c:pt>
                  <c:pt idx="3">
                    <c:v>Ophthalmology</c:v>
                  </c:pt>
                  <c:pt idx="4">
                    <c:v>Cardiology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94</c:v>
                </c:pt>
                <c:pt idx="1">
                  <c:v>96</c:v>
                </c:pt>
                <c:pt idx="2">
                  <c:v>91</c:v>
                </c:pt>
                <c:pt idx="3">
                  <c:v>98</c:v>
                </c:pt>
                <c:pt idx="4">
                  <c:v>89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Expert Clinician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Radiology</c:v>
                  </c:pt>
                  <c:pt idx="1">
                    <c:v>Pathology</c:v>
                  </c:pt>
                  <c:pt idx="2">
                    <c:v>Dermatology</c:v>
                  </c:pt>
                  <c:pt idx="3">
                    <c:v>Ophthalmology</c:v>
                  </c:pt>
                  <c:pt idx="4">
                    <c:v>Cardiology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87</c:v>
                </c:pt>
                <c:pt idx="1">
                  <c:v>91</c:v>
                </c:pt>
                <c:pt idx="2">
                  <c:v>83</c:v>
                </c:pt>
                <c:pt idx="3">
                  <c:v>90</c:v>
                </c:pt>
                <c:pt idx="4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7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7415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solidFill>
      <a:srgbClr val="F8FBF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(USD Billion)</c:v>
                </c:pt>
              </c:strCache>
            </c:strRef>
          </c:tx>
          <c:spPr>
            <a:solidFill>
              <a:srgbClr val="00A896"/>
            </a:solidFill>
            <a:ln w="38100" cap="flat">
              <a:solidFill>
                <a:srgbClr val="00A89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896"/>
              </a:solidFill>
              <a:ln w="9525" cap="flat">
                <a:solidFill>
                  <a:srgbClr val="00A89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  <c:pt idx="5">
                    <c:v>2027</c:v>
                  </c:pt>
                  <c:pt idx="6">
                    <c:v>2028</c:v>
                  </c:pt>
                  <c:pt idx="7">
                    <c:v>2029</c:v>
                  </c:pt>
                  <c:pt idx="8">
                    <c:v>2030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15.1</c:v>
                </c:pt>
                <c:pt idx="1">
                  <c:v>22.4</c:v>
                </c:pt>
                <c:pt idx="2">
                  <c:v>32.3</c:v>
                </c:pt>
                <c:pt idx="3">
                  <c:v>46.8</c:v>
                </c:pt>
                <c:pt idx="4">
                  <c:v>67.8</c:v>
                </c:pt>
                <c:pt idx="5">
                  <c:v>98.3</c:v>
                </c:pt>
                <c:pt idx="6">
                  <c:v>142.5</c:v>
                </c:pt>
                <c:pt idx="7">
                  <c:v>206.5</c:v>
                </c:pt>
                <c:pt idx="8">
                  <c:v>613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ADCF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1E3A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ADCF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0D2A4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645920"/>
            <a:ext cx="4572000" cy="4572000"/>
          </a:xfrm>
          <a:prstGeom prst="ellipse">
            <a:avLst/>
          </a:prstGeom>
          <a:solidFill>
            <a:srgbClr val="0D4F7C">
              <a:alpha val="45000"/>
            </a:srgbClr>
          </a:solidFill>
          <a:ln w="12700">
            <a:solidFill>
              <a:srgbClr val="0D4F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457200"/>
            <a:ext cx="2560320" cy="2560320"/>
          </a:xfrm>
          <a:prstGeom prst="ellipse">
            <a:avLst/>
          </a:prstGeom>
          <a:solidFill>
            <a:srgbClr val="00A896">
              <a:alpha val="40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84124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7600" dirty="0"/>
          </a:p>
        </p:txBody>
      </p:sp>
      <p:sp>
        <p:nvSpPr>
          <p:cNvPr id="7" name="Shape 5"/>
          <p:cNvSpPr/>
          <p:nvPr/>
        </p:nvSpPr>
        <p:spPr>
          <a:xfrm>
            <a:off x="457200" y="3246120"/>
            <a:ext cx="3657600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34290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 patient outcomes through intelligent technology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4297680"/>
            <a:ext cx="1280160" cy="34747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42976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REPORT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920240" y="4343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Slides  •  Data-Driven Insights  •  Strategic Roadmap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A274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Under Pressure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2984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systems worldwide face mounting challenges that demand innovation at scale.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0040" y="1828800"/>
            <a:ext cx="2743200" cy="2633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828800"/>
            <a:ext cx="2743200" cy="109728"/>
          </a:xfrm>
          <a:prstGeom prst="rect">
            <a:avLst/>
          </a:prstGeom>
          <a:solidFill>
            <a:srgbClr val="0D4F7C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" y="202996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D4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$4.5T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84632" y="290779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healthcare spending annually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84632" y="354787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5% year-over-year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27832" y="1828800"/>
            <a:ext cx="2743200" cy="2633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27832" y="1828800"/>
            <a:ext cx="2743200" cy="10972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/>
          <p:nvPr/>
        </p:nvSpPr>
        <p:spPr>
          <a:xfrm>
            <a:off x="3392424" y="202996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3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3392424" y="290779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Diagnoses contain preventable errors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92424" y="354787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$750B+ per year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35624" y="1828800"/>
            <a:ext cx="2743200" cy="26334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35624" y="1828800"/>
            <a:ext cx="2743200" cy="109728"/>
          </a:xfrm>
          <a:prstGeom prst="rect">
            <a:avLst/>
          </a:prstGeom>
          <a:solidFill>
            <a:srgbClr val="0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300216" y="202996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18M+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6300216" y="2907792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worker shortage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300216" y="354787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by 2030 globally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4754880"/>
            <a:ext cx="84124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offers a scalable path forward — augmenting human capability where it matters most.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34640" cy="5143500"/>
          </a:xfrm>
          <a:prstGeom prst="rect">
            <a:avLst/>
          </a:prstGeom>
          <a:solidFill>
            <a:srgbClr val="0A2744"/>
          </a:solidFill>
          <a:ln/>
        </p:spPr>
      </p:sp>
      <p:sp>
        <p:nvSpPr>
          <p:cNvPr id="3" name="Text 1"/>
          <p:cNvSpPr/>
          <p:nvPr/>
        </p:nvSpPr>
        <p:spPr>
          <a:xfrm>
            <a:off x="256032" y="10058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AI 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56032" y="1353312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Transforming</a:t>
            </a:r>
            <a:endParaRPr lang="en-US" sz="2700" dirty="0"/>
          </a:p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256032" y="2999232"/>
            <a:ext cx="1371600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256032" y="312724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key domains where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making an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impact today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99232" y="201168"/>
            <a:ext cx="2926080" cy="1463040"/>
          </a:xfrm>
          <a:prstGeom prst="rect">
            <a:avLst/>
          </a:prstGeom>
          <a:solidFill>
            <a:srgbClr val="E8F4FB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999232" y="201168"/>
            <a:ext cx="73152" cy="1463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/>
          <p:nvPr/>
        </p:nvSpPr>
        <p:spPr>
          <a:xfrm>
            <a:off x="3182112" y="3566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Diagnostics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182112" y="7315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imaging 40× faster with 94% accuracy, surpassing specialist benchmarks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16752" y="201168"/>
            <a:ext cx="2926080" cy="1463040"/>
          </a:xfrm>
          <a:prstGeom prst="rect">
            <a:avLst/>
          </a:prstGeom>
          <a:solidFill>
            <a:srgbClr val="E8F4FB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016752" y="201168"/>
            <a:ext cx="73152" cy="1463040"/>
          </a:xfrm>
          <a:prstGeom prst="rect">
            <a:avLst/>
          </a:prstGeom>
          <a:solidFill>
            <a:srgbClr val="0D4F7C"/>
          </a:solidFill>
          <a:ln/>
        </p:spPr>
      </p:sp>
      <p:sp>
        <p:nvSpPr>
          <p:cNvPr id="13" name="Text 11"/>
          <p:cNvSpPr/>
          <p:nvPr/>
        </p:nvSpPr>
        <p:spPr>
          <a:xfrm>
            <a:off x="6199632" y="3566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Discovery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199632" y="7315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 timelines from 12 years to under 4 years per new therapeutic compound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99232" y="1801368"/>
            <a:ext cx="29260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999232" y="1801368"/>
            <a:ext cx="73152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3182112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Medicine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182112" y="23317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plans tailored to individual genomic profiles and health history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16752" y="1801368"/>
            <a:ext cx="29260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16752" y="1801368"/>
            <a:ext cx="73152" cy="14630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19568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Analytics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199632" y="23317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at-risk patients before symptoms emerge, enabling early intervention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999232" y="3401568"/>
            <a:ext cx="2926080" cy="1463040"/>
          </a:xfrm>
          <a:prstGeom prst="rect">
            <a:avLst/>
          </a:prstGeom>
          <a:solidFill>
            <a:srgbClr val="E8F4FB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999232" y="3401568"/>
            <a:ext cx="73152" cy="1463040"/>
          </a:xfrm>
          <a:prstGeom prst="rect">
            <a:avLst/>
          </a:prstGeom>
          <a:solidFill>
            <a:srgbClr val="0D4F7C"/>
          </a:solidFill>
          <a:ln/>
        </p:spPr>
      </p:sp>
      <p:sp>
        <p:nvSpPr>
          <p:cNvPr id="25" name="Text 23"/>
          <p:cNvSpPr/>
          <p:nvPr/>
        </p:nvSpPr>
        <p:spPr>
          <a:xfrm>
            <a:off x="3182112" y="35570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Administrative AI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182112" y="39319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documentation burden by 70%, reclaiming clinical time for patients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016752" y="3401568"/>
            <a:ext cx="2926080" cy="1463040"/>
          </a:xfrm>
          <a:prstGeom prst="rect">
            <a:avLst/>
          </a:prstGeom>
          <a:solidFill>
            <a:srgbClr val="E8F4FB"/>
          </a:solidFill>
          <a:ln/>
          <a:effectLst>
            <a:outerShdw sx="100000" sy="100000" kx="0" ky="0" algn="bl" rotWithShape="0" blurRad="63500" dist="25400" dir="81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16752" y="3401568"/>
            <a:ext cx="73152" cy="14630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9" name="Text 27"/>
          <p:cNvSpPr/>
          <p:nvPr/>
        </p:nvSpPr>
        <p:spPr>
          <a:xfrm>
            <a:off x="6199632" y="3557016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Robotics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199632" y="39319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Sub-millimeter precision, reduced complications, and faster patient recovery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ACCURACY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vs. Expert Clinician Accuracy by Specialty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2984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Percentage of correctly identified cases (higher = better)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0" y="749808"/>
            <a:ext cx="2011680" cy="1005840"/>
          </a:xfrm>
          <a:prstGeom prst="rect">
            <a:avLst/>
          </a:prstGeom>
          <a:solidFill>
            <a:srgbClr val="0A274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0" y="822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94–98%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858000" y="12984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peak accuracy range</a:t>
            </a:r>
            <a:endParaRPr lang="en-US" sz="9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274320" y="1691640"/>
          <a:ext cx="8595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097280"/>
            <a:ext cx="5029200" cy="5029200"/>
          </a:xfrm>
          <a:prstGeom prst="ellipse">
            <a:avLst/>
          </a:prstGeom>
          <a:solidFill>
            <a:srgbClr val="0D4F7C">
              <a:alpha val="40000"/>
            </a:srgbClr>
          </a:solidFill>
          <a:ln w="12700">
            <a:solidFill>
              <a:srgbClr val="0D4F7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560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59436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Healthcare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Growth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1938528"/>
            <a:ext cx="2377440" cy="10058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98424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45.1%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251460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 2024 – 2030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3127248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$613B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5760" y="37673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market size by 2030</a:t>
            </a:r>
            <a:endParaRPr lang="en-US" sz="11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291840" y="640080"/>
          <a:ext cx="55778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A274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OUTCOMES &amp; COST SAVINGS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Impact on Care &amp; Cost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98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data from leading healthcare systems deploying AI at scale.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" y="1783080"/>
            <a:ext cx="2029968" cy="2697480"/>
          </a:xfrm>
          <a:prstGeom prst="rect">
            <a:avLst/>
          </a:prstGeom>
          <a:solidFill>
            <a:srgbClr val="00A896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938528"/>
            <a:ext cx="18836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365760" y="2907792"/>
            <a:ext cx="18836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readmission rates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1783080"/>
            <a:ext cx="2029968" cy="2697480"/>
          </a:xfrm>
          <a:prstGeom prst="rect">
            <a:avLst/>
          </a:prstGeom>
          <a:solidFill>
            <a:srgbClr val="0D4F7C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42032" y="1938528"/>
            <a:ext cx="18836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$150B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2542032" y="2907792"/>
            <a:ext cx="18836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savings via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efficiency gains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45152" y="1783080"/>
            <a:ext cx="2029968" cy="2697480"/>
          </a:xfrm>
          <a:prstGeom prst="rect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18304" y="1938528"/>
            <a:ext cx="18836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4718304" y="2907792"/>
            <a:ext cx="18836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diagnosis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treatment time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21424" y="1783080"/>
            <a:ext cx="2029968" cy="2697480"/>
          </a:xfrm>
          <a:prstGeom prst="rect">
            <a:avLst/>
          </a:prstGeom>
          <a:solidFill>
            <a:srgbClr val="0A2744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94576" y="1938528"/>
            <a:ext cx="18836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6894576" y="2907792"/>
            <a:ext cx="18836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survival rates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475488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McKinsey Global Institute, WHO Digital Health Report, NEJM AI 2024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4F7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SUCCESS STORIES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Action: Proven Clinical Results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74320" y="1481328"/>
            <a:ext cx="2816352" cy="3429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481328"/>
            <a:ext cx="2816352" cy="9144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664208"/>
            <a:ext cx="1188720" cy="27432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438912" y="16642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Ophthalmology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38912" y="202996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DeepMind / NHS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2304288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Disease Detection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38912" y="2743200"/>
            <a:ext cx="2487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94.5% Accuracy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38912" y="3364992"/>
            <a:ext cx="24871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Detected 50+ sight-threatening eye conditions from OCT scans — matching world-leading clinicians — preventing thousands of avoidable blindness cases.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18688" y="1481328"/>
            <a:ext cx="2816352" cy="3429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18688" y="1481328"/>
            <a:ext cx="2816352" cy="91440"/>
          </a:xfrm>
          <a:prstGeom prst="rect">
            <a:avLst/>
          </a:prstGeom>
          <a:solidFill>
            <a:srgbClr val="0D4F7C"/>
          </a:solidFill>
          <a:ln/>
        </p:spPr>
      </p:sp>
      <p:sp>
        <p:nvSpPr>
          <p:cNvPr id="15" name="Shape 13"/>
          <p:cNvSpPr/>
          <p:nvPr/>
        </p:nvSpPr>
        <p:spPr>
          <a:xfrm>
            <a:off x="3383280" y="1664208"/>
            <a:ext cx="1188720" cy="274320"/>
          </a:xfrm>
          <a:prstGeom prst="rect">
            <a:avLst/>
          </a:prstGeom>
          <a:solidFill>
            <a:srgbClr val="0D4F7C"/>
          </a:solidFill>
          <a:ln/>
        </p:spPr>
      </p:sp>
      <p:sp>
        <p:nvSpPr>
          <p:cNvPr id="16" name="Text 14"/>
          <p:cNvSpPr/>
          <p:nvPr/>
        </p:nvSpPr>
        <p:spPr>
          <a:xfrm>
            <a:off x="3383280" y="16642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Oncology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383280" y="202996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Watson Oncology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83280" y="2304288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Treatment Plans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2743200"/>
            <a:ext cx="2487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4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 Concordance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3383280" y="3364992"/>
            <a:ext cx="24871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treatment recommendations aligning with oncologist decisions in 96% of breast cancer cases, cutting planning time from weeks to hours.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056" y="1481328"/>
            <a:ext cx="2816352" cy="3429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63056" y="1481328"/>
            <a:ext cx="2816352" cy="914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3" name="Shape 21"/>
          <p:cNvSpPr/>
          <p:nvPr/>
        </p:nvSpPr>
        <p:spPr>
          <a:xfrm>
            <a:off x="6327648" y="1664208"/>
            <a:ext cx="1188720" cy="2743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/>
          <p:nvPr/>
        </p:nvSpPr>
        <p:spPr>
          <a:xfrm>
            <a:off x="6327648" y="16642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327648" y="2029968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/ Apple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27648" y="2304288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27648" y="2743200"/>
            <a:ext cx="24871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419K Patients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327648" y="3364992"/>
            <a:ext cx="248716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heart monitor detected AFib in 419,000 participants — enabling early intervention and preventing thousands of strokes nationwide.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A274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Phases to Successful AI Adoption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298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proven framework for healthcare organizations moving from strategy to impact.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68680" y="2816352"/>
            <a:ext cx="7406640" cy="0"/>
          </a:xfrm>
          <a:prstGeom prst="line">
            <a:avLst/>
          </a:prstGeom>
          <a:noFill/>
          <a:ln w="15240">
            <a:solidFill>
              <a:srgbClr val="D1D5DB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795528" y="1691640"/>
            <a:ext cx="868680" cy="868680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5528" y="1691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92608" y="265176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5488" y="2926080"/>
            <a:ext cx="1691640" cy="274320"/>
          </a:xfrm>
          <a:prstGeom prst="rect">
            <a:avLst/>
          </a:prstGeom>
          <a:solidFill>
            <a:srgbClr val="E8F4FB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2926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1–2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3337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Audit existing data infrastructure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Identify high-impact use cases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65760" y="41605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 regulatory requirements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990088" y="1691640"/>
            <a:ext cx="868680" cy="868680"/>
          </a:xfrm>
          <a:prstGeom prst="ellipse">
            <a:avLst/>
          </a:prstGeom>
          <a:solidFill>
            <a:srgbClr val="0D4F7C"/>
          </a:solidFill>
          <a:ln w="12700">
            <a:solidFill>
              <a:srgbClr val="0D4F7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90088" y="1691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487168" y="265176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670048" y="2926080"/>
            <a:ext cx="1691640" cy="274320"/>
          </a:xfrm>
          <a:prstGeom prst="rect">
            <a:avLst/>
          </a:prstGeom>
          <a:solidFill>
            <a:srgbClr val="E8F4FB"/>
          </a:solidFill>
          <a:ln/>
        </p:spPr>
      </p:sp>
      <p:sp>
        <p:nvSpPr>
          <p:cNvPr id="19" name="Text 17"/>
          <p:cNvSpPr/>
          <p:nvPr/>
        </p:nvSpPr>
        <p:spPr>
          <a:xfrm>
            <a:off x="2670048" y="2926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3–6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60320" y="3337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Launch 1–2 focused pilot programs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6032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 clinical staff on AI tools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560320" y="41605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Establish baseline KPIs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184648" y="1691640"/>
            <a:ext cx="868680" cy="8686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84648" y="1691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681728" y="265176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864608" y="2926080"/>
            <a:ext cx="1691640" cy="274320"/>
          </a:xfrm>
          <a:prstGeom prst="rect">
            <a:avLst/>
          </a:prstGeom>
          <a:solidFill>
            <a:srgbClr val="E8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4864608" y="2926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7–12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54880" y="3337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Roll out validated AI solutions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75488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Integrate with EHR systems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754880" y="41605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continuous feedback loops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379208" y="1691640"/>
            <a:ext cx="868680" cy="868680"/>
          </a:xfrm>
          <a:prstGeom prst="ellipse">
            <a:avLst/>
          </a:prstGeom>
          <a:solidFill>
            <a:srgbClr val="0A2744"/>
          </a:solidFill>
          <a:ln w="12700">
            <a:solidFill>
              <a:srgbClr val="0A274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79208" y="16916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876288" y="2651760"/>
            <a:ext cx="2057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059168" y="2926080"/>
            <a:ext cx="1691640" cy="274320"/>
          </a:xfrm>
          <a:prstGeom prst="rect">
            <a:avLst/>
          </a:prstGeom>
          <a:solidFill>
            <a:srgbClr val="E8F4FB"/>
          </a:solidFill>
          <a:ln/>
        </p:spPr>
      </p:sp>
      <p:sp>
        <p:nvSpPr>
          <p:cNvPr id="35" name="Text 33"/>
          <p:cNvSpPr/>
          <p:nvPr/>
        </p:nvSpPr>
        <p:spPr>
          <a:xfrm>
            <a:off x="7059168" y="29260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949440" y="333756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Continuously retrain models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949440" y="374904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to new departments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949440" y="41605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Publish measurable outcomes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2286000"/>
            <a:ext cx="5029200" cy="5029200"/>
          </a:xfrm>
          <a:prstGeom prst="ellipse">
            <a:avLst/>
          </a:prstGeom>
          <a:solidFill>
            <a:srgbClr val="0D4F7C">
              <a:alpha val="42000"/>
            </a:srgbClr>
          </a:solidFill>
          <a:ln w="12700">
            <a:solidFill>
              <a:srgbClr val="0D4F7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1645920"/>
            <a:ext cx="4114800" cy="4114800"/>
          </a:xfrm>
          <a:prstGeom prst="ellipse">
            <a:avLst/>
          </a:prstGeom>
          <a:solidFill>
            <a:srgbClr val="00A896">
              <a:alpha val="35000"/>
            </a:srgbClr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06840" y="0"/>
            <a:ext cx="137160" cy="514350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05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7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FUTURE 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1426464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INTELLIGENT.</a:t>
            </a:r>
            <a:endParaRPr lang="en-US" sz="7000" dirty="0"/>
          </a:p>
        </p:txBody>
      </p:sp>
      <p:sp>
        <p:nvSpPr>
          <p:cNvPr id="7" name="Shape 5"/>
          <p:cNvSpPr/>
          <p:nvPr/>
        </p:nvSpPr>
        <p:spPr>
          <a:xfrm>
            <a:off x="914400" y="2852928"/>
            <a:ext cx="4114800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0175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organizations that adopt AI today will define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of care for the next generation.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14400" y="4069080"/>
            <a:ext cx="2331720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1879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Outcomes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93008" y="4069080"/>
            <a:ext cx="2331720" cy="640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41879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Costs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71616" y="4069080"/>
            <a:ext cx="2331720" cy="64008"/>
          </a:xfrm>
          <a:prstGeom prst="rect">
            <a:avLst/>
          </a:prstGeom>
          <a:solidFill>
            <a:srgbClr val="02A896"/>
          </a:solidFill>
          <a:ln/>
        </p:spPr>
      </p:sp>
      <p:sp>
        <p:nvSpPr>
          <p:cNvPr id="14" name="Text 12"/>
          <p:cNvSpPr/>
          <p:nvPr/>
        </p:nvSpPr>
        <p:spPr>
          <a:xfrm>
            <a:off x="6071616" y="41879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Care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Healthcare</dc:title>
  <dc:subject>PptxGenJS Presentation</dc:subject>
  <dc:creator>Healthcare AI Report 2025</dc:creator>
  <cp:lastModifiedBy>Healthcare AI Report 2025</cp:lastModifiedBy>
  <cp:revision>1</cp:revision>
  <dcterms:created xsi:type="dcterms:W3CDTF">2026-05-18T03:17:32Z</dcterms:created>
  <dcterms:modified xsi:type="dcterms:W3CDTF">2026-05-18T03:17:32Z</dcterms:modified>
</cp:coreProperties>
</file>